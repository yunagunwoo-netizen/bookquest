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5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 비용 (만 원)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100명
(베타)</c:v>
                </c:pt>
                <c:pt idx="1">
                  <c:v>500명</c:v>
                </c:pt>
                <c:pt idx="2">
                  <c:v>1,000명</c:v>
                </c:pt>
                <c:pt idx="3">
                  <c:v>5,000명</c:v>
                </c:pt>
                <c:pt idx="4">
                  <c:v>10,000명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60</c:v>
                </c:pt>
                <c:pt idx="2">
                  <c:v>90</c:v>
                </c:pt>
                <c:pt idx="3">
                  <c:v>500</c:v>
                </c:pt>
                <c:pt idx="4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1E-40D9-8FED-B3F7E20E49A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Malgun Gothic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Malgun Gothic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 비용 (만 원)</c:v>
                </c:pt>
              </c:strCache>
            </c:strRef>
          </c:tx>
          <c:spPr>
            <a:ln w="3810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100명</c:v>
                </c:pt>
                <c:pt idx="1">
                  <c:v>500명</c:v>
                </c:pt>
                <c:pt idx="2">
                  <c:v>2,000명</c:v>
                </c:pt>
                <c:pt idx="3">
                  <c:v>5,000명</c:v>
                </c:pt>
                <c:pt idx="4">
                  <c:v>10,000명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60</c:v>
                </c:pt>
                <c:pt idx="2">
                  <c:v>240</c:v>
                </c:pt>
                <c:pt idx="3">
                  <c:v>500</c:v>
                </c:pt>
                <c:pt idx="4">
                  <c:v>1000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E5D-43E1-B7A9-D00A1129B9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월 매출 (만 원)</c:v>
                </c:pt>
              </c:strCache>
            </c:strRef>
          </c:tx>
          <c:spPr>
            <a:ln w="38100" cap="flat">
              <a:solidFill>
                <a:srgbClr val="10B98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100명</c:v>
                </c:pt>
                <c:pt idx="1">
                  <c:v>500명</c:v>
                </c:pt>
                <c:pt idx="2">
                  <c:v>2,000명</c:v>
                </c:pt>
                <c:pt idx="3">
                  <c:v>5,000명</c:v>
                </c:pt>
                <c:pt idx="4">
                  <c:v>10,000명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30</c:v>
                </c:pt>
                <c:pt idx="2">
                  <c:v>300</c:v>
                </c:pt>
                <c:pt idx="3">
                  <c:v>850</c:v>
                </c:pt>
                <c:pt idx="4">
                  <c:v>1800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BE5D-43E1-B7A9-D00A1129B9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Malgun Gothic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Malgun Gothic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Malgun Gothic"/>
              <a:cs typeface="Malgun Gothic"/>
            </a:defRPr>
          </a:pPr>
          <a:endParaRPr lang="ko-KR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3066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사업계획서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BookQuest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82296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아이와 책 사이에 서 있는 독서 플랫폼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4800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없음 · 개인정보 판매 없음 · 공익 기반 운영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6035040"/>
            <a:ext cx="2286000" cy="18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4월  ·  v1 초안  ·  BookQuest 팀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96112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BookQuest 사업계획서 · v1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문서의 구성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16장 · 사업 전체를 한눈에 파악할 수 있도록 구성했습니다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27614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852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234440" y="2743200"/>
            <a:ext cx="189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10128" y="2743200"/>
            <a:ext cx="27614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47288" y="2852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087368" y="2743200"/>
            <a:ext cx="189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BookQuest의 해답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63056" y="2743200"/>
            <a:ext cx="27614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0216" y="2852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40296" y="2743200"/>
            <a:ext cx="189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015984" y="2743200"/>
            <a:ext cx="27614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53144" y="2852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793224" y="2743200"/>
            <a:ext cx="189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27614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813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234440" y="3703320"/>
            <a:ext cx="189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&amp; 경쟁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310128" y="3703320"/>
            <a:ext cx="27614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47288" y="3813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087368" y="3703320"/>
            <a:ext cx="189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모델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163056" y="3703320"/>
            <a:ext cx="27614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00216" y="3813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940296" y="3703320"/>
            <a:ext cx="189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구조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015984" y="3703320"/>
            <a:ext cx="27614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153144" y="3813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9793224" y="3703320"/>
            <a:ext cx="189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시나리오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57200" y="4663440"/>
            <a:ext cx="27614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94360" y="4773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1234440" y="4663440"/>
            <a:ext cx="189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Go-to-Market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3310128" y="4663440"/>
            <a:ext cx="27614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447288" y="4773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4087368" y="4663440"/>
            <a:ext cx="189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트랙션 &amp; 로드맵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163056" y="4663440"/>
            <a:ext cx="27614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300216" y="4773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6940296" y="4663440"/>
            <a:ext cx="189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&amp; 조직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9015984" y="4663440"/>
            <a:ext cx="27614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153144" y="4773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9793224" y="4663440"/>
            <a:ext cx="189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&amp; 대응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457200" y="5623560"/>
            <a:ext cx="27614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94360" y="5733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1234440" y="5623560"/>
            <a:ext cx="189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사항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 · 문제 정의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96112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BookQuest 사업계획서 · v1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아이들이 책에서 멀어지고 있습니다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한국의 초·중등 독서율은 장기 하락, 스마트기기 사용은 증가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5029200" cy="3657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2032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788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감소 추세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아동 독서량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2377440" y="3931920"/>
            <a:ext cx="11887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11480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초등학생 평균 연간 독서권수는
지속 하락세를 보이고 있으며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스마트폰 사용 시간은 증가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852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관련 공식 통계로 업데이트 예정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60720" y="2651760"/>
            <a:ext cx="5943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60720" y="2651760"/>
            <a:ext cx="9144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2926080"/>
            <a:ext cx="548640" cy="5486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2788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높은 진입 장벽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75120" y="31546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1~2만 원대의 구독료로 일반 가정이 가볍게 시작하기 어려움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3886200"/>
            <a:ext cx="5943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760720" y="3886200"/>
            <a:ext cx="91440" cy="1097280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9320" y="4160520"/>
            <a:ext cx="548640" cy="548640"/>
          </a:xfrm>
          <a:prstGeom prst="ellipse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75120" y="4023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 관리 중심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675120" y="43891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아이의 재미·동기보다 부모 모니터링 관점에 기울어진 UX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60720" y="5120640"/>
            <a:ext cx="5943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760720" y="5120640"/>
            <a:ext cx="9144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89320" y="539496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75120" y="5257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광고·팝업 과잉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675120" y="5623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집중을 분산시키는 광고와 이벤트 팝업이 아이의 독서 경험을 저해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 · BookQuest의 해답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96112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BookQuest 사업계획서 · v1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책을 "의무"가 아닌 "탐험"으로 바꿉니다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아바타 성장 · AI 대화 · 공익 운영을 결합한 아동 독서 플랫폼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3749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651760"/>
            <a:ext cx="3749040" cy="73152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3063240"/>
            <a:ext cx="1005840" cy="1005840"/>
          </a:xfrm>
          <a:prstGeom prst="ellipse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3063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0080" y="4297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게임화된 독서 경험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48006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아바타 수집·성장·진화</a:t>
            </a:r>
            <a:endParaRPr lang="en-US" sz="13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독서 스트릭·주간 랭킹</a:t>
            </a:r>
            <a:endParaRPr lang="en-US" sz="13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완독 보상과 퀘스트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70832" y="2651760"/>
            <a:ext cx="3749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70832" y="2651760"/>
            <a:ext cx="3749040" cy="73152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42432" y="3063240"/>
            <a:ext cx="1005840" cy="1005840"/>
          </a:xfrm>
          <a:prstGeom prst="ellipse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3063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553712" y="4297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깊이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53712" y="48006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Q&amp;A·토론 코치</a:t>
            </a:r>
            <a:endParaRPr lang="en-US" sz="13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 도서 추천</a:t>
            </a:r>
            <a:endParaRPr lang="en-US" sz="13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자연 음성 낭독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84464" y="2651760"/>
            <a:ext cx="3749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84464" y="2651760"/>
            <a:ext cx="37490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56064" y="3063240"/>
            <a:ext cx="1005840" cy="1005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56064" y="3063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467344" y="4297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공익 기반 운영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467344" y="48006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없음</a:t>
            </a:r>
            <a:endParaRPr lang="en-US" sz="13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판매 없음</a:t>
            </a:r>
            <a:endParaRPr lang="en-US" sz="13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공공기관 저가·무료 제공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FEATURES · 주요 기능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96112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BookQuest 사업계획서 · v1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독서를 즐거운 여정으로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8가지 핵심 기능이 아이의 독서 경험을 입체적으로 만듭니다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276148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3017520"/>
            <a:ext cx="868680" cy="868680"/>
          </a:xfrm>
          <a:prstGeom prst="ellipse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91640" y="297180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독서 기록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91640" y="342900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읽은 책·독후감·이력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10128" y="2651760"/>
            <a:ext cx="276148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38728" y="3017520"/>
            <a:ext cx="868680" cy="868680"/>
          </a:xfrm>
          <a:prstGeom prst="ellipse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38728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44568" y="297180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아바타 성장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44568" y="342900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수집·레벨·진화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63056" y="2651760"/>
            <a:ext cx="276148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91656" y="3017520"/>
            <a:ext cx="868680" cy="8686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91656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97496" y="297180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독서 스트릭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97496" y="342900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연속 기록 보상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15984" y="2651760"/>
            <a:ext cx="276148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44584" y="3017520"/>
            <a:ext cx="868680" cy="8686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44584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250424" y="297180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랭킹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250424" y="342900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20 + 내 순위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434840"/>
            <a:ext cx="276148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5800" y="4800600"/>
            <a:ext cx="868680" cy="868680"/>
          </a:xfrm>
          <a:prstGeom prst="ellipse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800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691640" y="475488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책 Q&amp;A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691640" y="521208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내용 자유 질문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10128" y="4434840"/>
            <a:ext cx="276148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538728" y="4800600"/>
            <a:ext cx="868680" cy="868680"/>
          </a:xfrm>
          <a:prstGeom prst="ellipse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38728" y="4800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544568" y="475488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토론 코치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544568" y="521208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 토론 질문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63056" y="4434840"/>
            <a:ext cx="276148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91656" y="4800600"/>
            <a:ext cx="868680" cy="8686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91656" y="4800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7397496" y="475488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추천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397496" y="521208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읽은 책 기반 큐레이션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015984" y="4434840"/>
            <a:ext cx="276148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244584" y="4800600"/>
            <a:ext cx="868680" cy="8686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44584" y="4800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10250424" y="475488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낭독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0250424" y="521208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자연 음성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DIFFERENTIATION · 차별점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96112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BookQuest 사업계획서 · v1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시장에서 유일한 포지션을 선점합니다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· 재미 · 공익성 3축에서 경쟁 앱과 차별화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5577840" cy="3657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2032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공익 운영 4원칙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361188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566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내 광고 게재 없음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20624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데이터 외부 판매·공유 없음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80060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4754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학교·도서관·비영리단체 무료 또는 저가 제공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539496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394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5349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수익은 서버·운영 및 공익 캠페인 재원으로 사용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2743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구도 요약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3200400"/>
          <a:ext cx="5394960" cy="30175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BookQuest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A3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광고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 + 옵션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1~2만 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대화형·개인화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정적 콘텐츠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판매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수집·광고 타겟팅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B2B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공익 저가 제공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고가 B2B 라이선스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MARKET · 시장 &amp; 경쟁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96112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BookQuest 사업계획서 · v1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 진입해 단단하게 확장할 수 있는 시장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초·중등 아동 독서 시장 · TAM 중심의 보수적 진입 전략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2011680" cy="3657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2032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017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TAM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시장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88720" y="4160520"/>
            <a:ext cx="54864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34340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초·중등 아동 전체</a:t>
            </a:r>
            <a:endParaRPr lang="en-US" sz="12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570만 명</a:t>
            </a:r>
            <a:endParaRPr lang="en-US" sz="12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 독서 지출 연 12~18만 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06040" y="2743200"/>
            <a:ext cx="2011680" cy="3657600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  <a:effectLst>
            <a:outerShdw blurRad="2032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88920" y="3017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788920" y="3703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 시장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37560" y="4160520"/>
            <a:ext cx="54864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434340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스마트기기로 학습·독서 앱을</a:t>
            </a:r>
            <a:endParaRPr lang="en-US" sz="12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사용하는 초·중등 가정</a:t>
            </a:r>
            <a:endParaRPr lang="en-US" sz="12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150~200만 가구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743200"/>
            <a:ext cx="2011680" cy="3657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2032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3017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SOM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937760" y="3703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 목표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0" y="4160520"/>
            <a:ext cx="54864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434340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공익·AI 독서 앱을 수용할</a:t>
            </a:r>
            <a:endParaRPr lang="en-US" sz="12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얼리어답터 가정·공공기관</a:t>
            </a:r>
            <a:endParaRPr lang="en-US" sz="12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 내 유료 5,000~20,000명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86600" y="2743200"/>
            <a:ext cx="46634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23760" y="28803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맥락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23760" y="34290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핑크퐁·스마트스터디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23760" y="3703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유아 영상·게임 중심  →  BQ: 초·중등 읽기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23760" y="4114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밀크티·아이스크림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23760" y="4389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학습지  →  BQ: 독서 전문·게임화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23760" y="48006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리딩게이트·리브레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23760" y="5074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영어 읽기 중심  →  BQ: 한국어·습관 형성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23760" y="5486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유튜브·쇼츠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23760" y="5760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경쟁자  →  BQ: "재미있는 독서"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BUSINESS MODEL · 비즈니스 모델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96112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BookQuest 사업계획서 · v1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공익성을 해치지 않는 최소 수익 다층화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축이 흔들려도 앱이 멈추지 않도록 5개 수익 축으로 구조화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21488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743200"/>
            <a:ext cx="214884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4360" y="35204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서점 제휴 커미션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416052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알라딘 TTB 등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 1권 1~3%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5577840"/>
            <a:ext cx="16002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577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0" y="2743200"/>
            <a:ext cx="21488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0" y="2743200"/>
            <a:ext cx="2148840" cy="640080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2743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880360" y="35204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라이선스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880360" y="416052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학교·도서관·교회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9.9만 원~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17520" y="5577840"/>
            <a:ext cx="16002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0" y="5577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500명 이후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2743200"/>
            <a:ext cx="21488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0" y="2743200"/>
            <a:ext cx="2148840" cy="64008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743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166360" y="35204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 후원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66360" y="416052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1,000~3,900원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차별 없음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0" y="5577840"/>
            <a:ext cx="16002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5577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정식 출시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0" y="2743200"/>
            <a:ext cx="21488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15200" y="2743200"/>
            <a:ext cx="214884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2743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452360" y="35204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프리미엄 리포트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452360" y="416052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자녀 독서 분석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2,900원 옵션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589520" y="5577840"/>
            <a:ext cx="16002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0" y="5577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1,000명 이후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601200" y="2743200"/>
            <a:ext cx="21488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601200" y="2743200"/>
            <a:ext cx="214884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01200" y="2743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9738360" y="35204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 브랜드 캠페인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738360" y="416052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서점·출판사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스폰서십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875520" y="5577840"/>
            <a:ext cx="16002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75520" y="5577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1,000명 이후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COST · 비용 구조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96112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BookQuest 사업계획서 · v1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수에 따른 월 비용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API 비용은 선형 증가 · 인프라는 계단식 상승</a:t>
            </a:r>
            <a:endParaRPr lang="en-US" sz="15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57200" y="2651760"/>
          <a:ext cx="6858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7589520" y="265176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72400" y="2788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비용 구성 (100명 기준)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72400" y="3291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Haiku 4.5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241280" y="3291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60~75 USD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0" y="3840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Firebase 인프라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241280" y="3840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10~15 USD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72400" y="4389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Cloud TTS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241280" y="4389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3~5 USD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72400" y="4937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도메인·기타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241280" y="4937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USD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680960" y="5440680"/>
            <a:ext cx="39319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0" y="5486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 (약 12만 원)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241280" y="5486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90 USD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FINANCIALS · 재무 시나리오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96112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BookQuest 사업계획서 · v1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손익분기점은 약 1,500~2,000명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전환율 10~15% · ARPU 월 4,900원 가정</a:t>
            </a:r>
            <a:endParaRPr lang="en-US" sz="15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57200" y="2651760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8046720" y="2651760"/>
            <a:ext cx="3657600" cy="3657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2032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지표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0" y="33832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손익분기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0" y="3584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2,000명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0" y="3886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5,000명 수익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29600" y="4087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+200~500만 원/월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29600" y="43891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10,000명 수익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0" y="45902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+500~1,200만 원/월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229600" y="48920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전환율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229600" y="5093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10~15% (보수적)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229600" y="53949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객단가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229600" y="55961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4,900원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GO-TO-MARKET · 시장 진입 전략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96112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BookQuest 사업계획서 · v1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사용자 확보 전략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레퍼럴 중심 → 제휴 확장 → B2B 본격 전환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3749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651760"/>
            <a:ext cx="3749040" cy="100584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 → 500명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7E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 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343400"/>
            <a:ext cx="228600" cy="228600"/>
          </a:xfrm>
          <a:prstGeom prst="ellipse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343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" y="42519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베타 사용자 가족·지인 레퍼럴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983480"/>
            <a:ext cx="228600" cy="228600"/>
          </a:xfrm>
          <a:prstGeom prst="ellipse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983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" y="4892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초등 학부모 커뮤니티 선별 시딩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623560"/>
            <a:ext cx="228600" cy="228600"/>
          </a:xfrm>
          <a:prstGeom prst="ellipse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623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" y="55321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블로거·인플루언서 협업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70832" y="2651760"/>
            <a:ext cx="3749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70832" y="2651760"/>
            <a:ext cx="3749040" cy="1005840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5152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B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45152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 → 2,000명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645152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64B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Q3~Q4 2026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45152" y="4343400"/>
            <a:ext cx="228600" cy="228600"/>
          </a:xfrm>
          <a:prstGeom prst="ellipse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4343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65192" y="42519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알라딘 등 서점 공식 제휴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45152" y="4983480"/>
            <a:ext cx="228600" cy="228600"/>
          </a:xfrm>
          <a:prstGeom prst="ellipse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45152" y="4983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65192" y="4892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방학 공동 독서 챌린지 캠페인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45152" y="5623560"/>
            <a:ext cx="228600" cy="228600"/>
          </a:xfrm>
          <a:prstGeom prst="ellipse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5623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65192" y="55321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학교·도서관 B2B 파일럿 5~10건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84464" y="2651760"/>
            <a:ext cx="3749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84464" y="2651760"/>
            <a:ext cx="374904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58784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C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558784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2,000 → 10,000명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8558784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558784" y="4343400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58784" y="4343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878824" y="42519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본격 영업 조직 가동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558784" y="4983480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58784" y="4983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878824" y="4892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사회적기업 예비 인증 및 공공 사업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558784" y="5623560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58784" y="5623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878824" y="55321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투자·정부지원 확장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TRACTION · 현재 트랙션 &amp; 로드맵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96112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BookQuest 사업계획서 · v1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만들어졌고, 다음 단계로 나아갑니다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100명 비공개 베타 운영 중 · 주요 기능 배포 완료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651760"/>
            <a:ext cx="109728" cy="155448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88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67E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31520" y="3520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794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비공개 베타 사용자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265176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2651760"/>
            <a:ext cx="109728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2788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520440" y="3520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20440" y="3794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배포 완료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34340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343400"/>
            <a:ext cx="109728" cy="1554480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805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64B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731520" y="5212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5486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구조 설계 완료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434340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4343400"/>
            <a:ext cx="109728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44805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₩90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3520440" y="5212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USD/월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20440" y="5486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100명 기준 운영비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651760"/>
            <a:ext cx="55778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09360" y="2788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로드맵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92240" y="3383280"/>
            <a:ext cx="45720" cy="2468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3429000"/>
            <a:ext cx="320040" cy="320040"/>
          </a:xfrm>
          <a:prstGeom prst="ellipse">
            <a:avLst/>
          </a:prstGeom>
          <a:solidFill>
            <a:srgbClr val="667EE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3383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7E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 2026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58000" y="3657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베타 확장 · 알라딘 제휴 논의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55080" y="4160520"/>
            <a:ext cx="320040" cy="320040"/>
          </a:xfrm>
          <a:prstGeom prst="ellipse">
            <a:avLst/>
          </a:prstGeom>
          <a:solidFill>
            <a:srgbClr val="764BA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4114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64B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 2026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58000" y="4389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정식 출시 · 수익 옵션 오픈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55080" y="4892040"/>
            <a:ext cx="320040" cy="32004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0" y="4846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 2026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58000" y="5120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1,000명 · B2B 파일럿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55080" y="5623560"/>
            <a:ext cx="320040" cy="32004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0" y="5577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58000" y="5852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사회적기업 인증 · 정부지원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· 팀 &amp; 조직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96112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BookQuest 사업계획서 · v1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 시작, 매출과 연동한 단계적 확장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 + AI 협업 구조로 고정비 최소화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5486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788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구성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822960" cy="8229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66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0200" y="3566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설립자 · 총괄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3931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운영·마케팅 경력 기반. 제품·콘텐츠·고객 경험 전 영역 직접 실행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846320"/>
            <a:ext cx="822960" cy="822960"/>
          </a:xfrm>
          <a:prstGeom prst="ellipse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846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846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협업 개발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5212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기반으로 설계·개발·디버깅 전 과정 진행. 1인 생산성을 극대화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651760"/>
            <a:ext cx="5577840" cy="3657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2032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2788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확장 계획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3474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0" y="3474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지원 파트타임 1명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1,000명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21040" y="4114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파트타임 디자이너·B2B 영업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4754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5,000명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21040" y="4754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 개발 1인·운영 1인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5394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자문 네트워크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21040" y="5394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교육·출판·법률 전문가 각 1인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 · 리스크 &amp; 대응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96112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BookQuest 사업계획서 · v1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팀은 "분산"이 대응 전략입니다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5대 리스크 각각에 다채널 분산·체계로 대응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11274552" cy="35661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0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리스크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대응 방향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확보 지연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수익 지연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B2B·공공기관·제휴 채널 동시 가동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API 비용 급등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변동비 급증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Haiku 등 저가 모델 우선 + 캐싱·RAG 호출 절감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개인정보·아동 안전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법적 문제 및 중단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아동 보호 UX 명문화 · 처리 방침 정기 검토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대형 경쟁자 진입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비용 급등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공익 포지셔닝 + B2B 선점 해자 구축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1인 단일 실패점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이탈 시 서비스 중단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자문 네트워크 + 백업 체계로 인수·이관 가능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 · 요청 사항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96112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BookQuest 사업계획서 · v1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단계로 함께 가고 싶습니다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파트너십 · 지원사업 · 투자 3가지 영역에서 대화를 엽니다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3749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651760"/>
            <a:ext cx="3749040" cy="109728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7360" y="3017520"/>
            <a:ext cx="1188720" cy="1188720"/>
          </a:xfrm>
          <a:prstGeom prst="ellipse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30175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731520" y="4251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전략적 파트너십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846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알라딘 등 서점·출판 파트너와의 공식 제휴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5303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학교·도서관·공공기관 공동 영업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760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 브랜드 캠페인 스폰서십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70832" y="2651760"/>
            <a:ext cx="3749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70832" y="2651760"/>
            <a:ext cx="3749040" cy="109728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50992" y="3017520"/>
            <a:ext cx="1188720" cy="1188720"/>
          </a:xfrm>
          <a:prstGeom prst="ellipse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30175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4645152" y="4251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정부지원 &amp; 인증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45152" y="4846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예비창업패키지 · 초기창업패키지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45152" y="5303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사회적기업 예비 인증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45152" y="5760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교육부·문체부 독서문화진흥 사업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84464" y="2651760"/>
            <a:ext cx="3749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84464" y="2651760"/>
            <a:ext cx="374904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64624" y="3017520"/>
            <a:ext cx="1188720" cy="11887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64624" y="30175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5400" dirty="0"/>
          </a:p>
        </p:txBody>
      </p:sp>
      <p:sp>
        <p:nvSpPr>
          <p:cNvPr id="29" name="Text 27"/>
          <p:cNvSpPr/>
          <p:nvPr/>
        </p:nvSpPr>
        <p:spPr>
          <a:xfrm>
            <a:off x="8558784" y="4251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자본 &amp; 네트워크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558784" y="4846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5,000명 돌파 시점 투자 라운드 검토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58784" y="5303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교육·출판·아동 법률 자문 네트워크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58784" y="5760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초등 독서 교육 전문가 협력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0312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아이들이 책을 사랑하게 만드는 도구를 만듭니다.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2286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983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53035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BookQuest 팀  ·  yunagunwoo@gmail.com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버전: v1 초안  ·  2026년 4월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1367</Words>
  <Application>Microsoft Office PowerPoint</Application>
  <PresentationFormat>와이드스크린</PresentationFormat>
  <Paragraphs>385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BookQuest 사업계획서</dc:title>
  <dc:subject>PptxGenJS Presentation</dc:subject>
  <dc:creator>BookQuest</dc:creator>
  <cp:lastModifiedBy>경일 김</cp:lastModifiedBy>
  <cp:revision>1</cp:revision>
  <dcterms:created xsi:type="dcterms:W3CDTF">2026-04-22T00:39:28Z</dcterms:created>
  <dcterms:modified xsi:type="dcterms:W3CDTF">2026-04-22T00:47:24Z</dcterms:modified>
</cp:coreProperties>
</file>